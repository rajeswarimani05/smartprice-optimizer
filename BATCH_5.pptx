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4" r:id="rId9"/>
    <p:sldId id="261" r:id="rId10"/>
    <p:sldId id="273" r:id="rId11"/>
    <p:sldId id="277" r:id="rId12"/>
    <p:sldId id="263" r:id="rId13"/>
    <p:sldId id="264" r:id="rId14"/>
    <p:sldId id="265" r:id="rId15"/>
    <p:sldId id="266" r:id="rId16"/>
    <p:sldId id="275" r:id="rId17"/>
    <p:sldId id="276" r:id="rId18"/>
    <p:sldId id="267" r:id="rId19"/>
    <p:sldId id="271" r:id="rId20"/>
    <p:sldId id="272" r:id="rId21"/>
  </p:sldIdLst>
  <p:sldSz cx="12192000" cy="6858000"/>
  <p:notesSz cx="6858000" cy="9144000"/>
  <p:embeddedFontLst>
    <p:embeddedFont>
      <p:font typeface="Calibri" panose="020F0502020204030204"/>
      <p:regular r:id="rId25"/>
    </p:embeddedFont>
    <p:embeddedFont>
      <p:font typeface="Arial Narrow" panose="020B0606020202030204"/>
      <p:regular r:id="rId26"/>
      <p:bold r:id="rId27"/>
      <p:italic r:id="rId28"/>
      <p:boldItalic r:id="rId29"/>
    </p:embeddedFont>
    <p:embeddedFont>
      <p:font typeface="Arial Narrow" panose="020B060602020203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DD818E-ADFA-4579-856F-A3140DA02BD1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Style>
        <a:tcBdr/>
        <a:fill>
          <a:solidFill>
            <a:srgbClr val="D4E2CE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4E2CE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105410" y="2342515"/>
            <a:ext cx="12013565" cy="419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DEPARTMENT OF COMPUTER SCIENCE AND ENGINEERING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20CS7503 &amp; DESIGN PROJECT </a:t>
            </a:r>
            <a:r>
              <a:rPr lang="en-IN" alt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- III</a:t>
            </a:r>
            <a:endParaRPr lang="en-IN" altLang="en-US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ctr">
              <a:buSzPts val="3600"/>
              <a:buNone/>
            </a:pPr>
            <a:endParaRPr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END SEMESTER PRACTICAL EXAMINATION - NOV / DEC 2025</a:t>
            </a:r>
            <a:endParaRPr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REVIEW PRESENTATION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Batch No.:</a:t>
            </a:r>
            <a:r>
              <a:rPr lang="en-IN" alt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</a:t>
            </a: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5</a:t>
            </a:r>
            <a:endParaRPr lang="en-US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Date:</a:t>
            </a:r>
            <a:r>
              <a:rPr lang="en-IN" alt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</a:t>
            </a: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28/1</a:t>
            </a:r>
            <a:r>
              <a:rPr lang="en-IN" alt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</a:t>
            </a: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/25</a:t>
            </a:r>
            <a:endParaRPr lang="en-US" sz="2400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Session: FN</a:t>
            </a:r>
            <a:endParaRPr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1"/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72900" y="538686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SzPts val="3600"/>
              <a:buNone/>
            </a:pPr>
            <a:r>
              <a:rPr lang="en-GB" sz="28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SMART</a:t>
            </a:r>
            <a:r>
              <a:rPr lang="en-GB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</a:t>
            </a:r>
            <a:r>
              <a:rPr lang="en-GB" sz="28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PRICE OPTIMIZER USING MACHINE LEARNING</a:t>
            </a:r>
            <a:endParaRPr lang="en-GB" sz="2800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7" y="3594414"/>
            <a:ext cx="5487888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 Name:</a:t>
            </a:r>
            <a:r>
              <a:rPr lang="en-GB" alt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Mrs. SURIYA M,</a:t>
            </a:r>
            <a:endParaRPr lang="en-GB" altLang="en-US" sz="2400"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>
              <a:buSzPts val="2400"/>
              <a:buNone/>
            </a:pPr>
            <a:r>
              <a:rPr lang="en-GB" alt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Assistant Professor/ CSE</a:t>
            </a:r>
            <a:endParaRPr lang="en-GB" altLang="en-US" sz="2400"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511445" y="3631450"/>
            <a:ext cx="5487888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Members:</a:t>
            </a:r>
            <a:endParaRPr lang="en-US" sz="2400"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GB" alt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NIRANJINI C - 811722104102</a:t>
            </a:r>
            <a:endParaRPr lang="en-GB" altLang="en-US" sz="2400"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alt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NITHYA SREE D - 811722104105</a:t>
            </a:r>
            <a:endParaRPr lang="en-GB" altLang="en-US" sz="2400"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altLang="en-US" sz="2400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RAJESWARI M - 811722104118</a:t>
            </a:r>
            <a:endParaRPr lang="en-GB" altLang="en-US" sz="2400"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OBJECTIVE OF THE PROJECT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2190750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1.</a:t>
            </a:r>
            <a:r>
              <a:rPr lang="en-US" altLang="en-GB" sz="28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To maximize business revenue and profit by setting the most effective price/discount in real time.</a:t>
            </a:r>
            <a:endParaRPr lang="en-US" altLang="en-GB" sz="2800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2.</a:t>
            </a:r>
            <a:r>
              <a:rPr lang="en-US" altLang="en-GB" sz="28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To enhance customer satisfaction and retention through personalized and fair pricing strategies.</a:t>
            </a:r>
            <a:endParaRPr lang="en-US" altLang="en-GB" sz="2800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3.</a:t>
            </a:r>
            <a:r>
              <a:rPr lang="en-US" altLang="en-GB" sz="28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To develop an intelligent AI/ML model that adapts dynamically to demand, competition, and customer behavior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INTRODUCTION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40750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GB" sz="2800" dirty="0">
                <a:latin typeface="Arial Narrow" panose="020B0606020202030204" pitchFamily="34" charset="0"/>
              </a:rPr>
              <a:t>1.Dynamic Pricing is a strategy where prices are adjusted in real time based on demand, competition, and customer behavior</a:t>
            </a:r>
            <a:endParaRPr lang="en-US" altLang="en-GB" sz="28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GB" sz="28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2.</a:t>
            </a:r>
            <a:r>
              <a:rPr lang="en-US" altLang="en-GB" sz="2800" dirty="0">
                <a:latin typeface="Arial Narrow" panose="020B0606020202030204" pitchFamily="34" charset="0"/>
              </a:rPr>
              <a:t> It is widely used in industries like e-commerce, airlines, ride-hailing, and food delivery to balance profit and customer satisfaction.</a:t>
            </a:r>
            <a:endParaRPr lang="en-US" altLang="en-GB" sz="28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3.</a:t>
            </a:r>
            <a:r>
              <a:rPr lang="en-US" altLang="en-GB" sz="2800" dirty="0">
                <a:latin typeface="Arial Narrow" panose="020B0606020202030204" pitchFamily="34" charset="0"/>
              </a:rPr>
              <a:t> Traditional pricing models are mostly static or rule-based, which often fail to capture changing market conditions and individual customer needs.</a:t>
            </a:r>
            <a:endParaRPr lang="en-US" altLang="en-GB" sz="2800" dirty="0">
              <a:latin typeface="Arial Narrow" panose="020B0606020202030204" pitchFamily="34" charset="0"/>
            </a:endParaRPr>
          </a:p>
          <a:p>
            <a:pPr marL="0" indent="0"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4.</a:t>
            </a:r>
            <a:r>
              <a:rPr lang="en-US" altLang="en-GB" sz="2800" dirty="0">
                <a:latin typeface="Arial Narrow" panose="020B0606020202030204" pitchFamily="34" charset="0"/>
              </a:rPr>
              <a:t> With advancements in AI and Machine Learning, businesses can now design intelligent, adaptive pricing systems that learn and optimize continuously</a:t>
            </a:r>
            <a:endParaRPr lang="en-US" altLang="en-GB" sz="28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5.</a:t>
            </a:r>
            <a:r>
              <a:rPr lang="en-GB" altLang="en-US" sz="2800" dirty="0">
                <a:latin typeface="Arial Narrow" panose="020B0606020202030204" pitchFamily="34" charset="0"/>
              </a:rPr>
              <a:t> It</a:t>
            </a:r>
            <a:r>
              <a:rPr lang="en-US" altLang="en-GB" sz="2800" dirty="0">
                <a:latin typeface="Arial Narrow" panose="020B0606020202030204" pitchFamily="34" charset="0"/>
              </a:rPr>
              <a:t> aims to build a personalized, ML-powered pricing and offer optimization system that ensures both revenue growth and improved customer experience</a:t>
            </a: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LITERATURE SURVEY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365657" y="625642"/>
          <a:ext cx="11460685" cy="5983745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19227"/>
                <a:gridCol w="2303815"/>
                <a:gridCol w="3027179"/>
                <a:gridCol w="3110464"/>
              </a:tblGrid>
              <a:tr h="4973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PUBLISHER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Dynamic Pricing and Learning with Strategic Customers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Santiago Balseiro, Omar Besbes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Management Science (INFORMS), 2016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Reinforcement Learning, Game Theory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  <a:tr h="2545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Reinforcement Learning in Dynamic Pricing Models for E-Commerce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GB" altLang="en-US" sz="1100" dirty="0"/>
                        <a:t>  </a:t>
                      </a:r>
                      <a:r>
                        <a:rPr lang="en-US" altLang="zh-CN" sz="2400" dirty="0">
                          <a:latin typeface="Arial Narrow" panose="020B0606020202030204" pitchFamily="34" charset="0"/>
                          <a:cs typeface="Arial Narrow" panose="020B0606020202030204" pitchFamily="34" charset="0"/>
                        </a:rPr>
                        <a:t>Dip </a:t>
                      </a:r>
                      <a:r>
                        <a:rPr lang="en-US" altLang="zh-CN" sz="2400" dirty="0" err="1">
                          <a:latin typeface="Arial Narrow" panose="020B0606020202030204" pitchFamily="34" charset="0"/>
                          <a:cs typeface="Arial Narrow" panose="020B0606020202030204" pitchFamily="34" charset="0"/>
                        </a:rPr>
                        <a:t>Bharatbhai</a:t>
                      </a:r>
                      <a:r>
                        <a:rPr lang="en-US" altLang="zh-CN" sz="2400" dirty="0">
                          <a:latin typeface="Arial Narrow" panose="020B0606020202030204" pitchFamily="34" charset="0"/>
                          <a:cs typeface="Arial Narrow" panose="020B0606020202030204" pitchFamily="34" charset="0"/>
                        </a:rPr>
                        <a:t> Patel</a:t>
                      </a:r>
                      <a:endParaRPr lang="en-US" altLang="zh-CN" sz="2400" dirty="0">
                        <a:latin typeface="Arial Narrow" panose="020B0606020202030204" pitchFamily="34" charset="0"/>
                        <a:cs typeface="Arial Narrow" panose="020B0606020202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The Es Economics and Entrepreneurship (journal)</a:t>
                      </a:r>
                      <a:r>
                        <a:rPr lang="en-GB" alt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 2022</a:t>
                      </a:r>
                      <a:endParaRPr lang="en-GB" alt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Reinforcement Learning, Review of RL methods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Scalable Reinforcement Learning Approaches for Dynamic Pricing in Ride-Hailing Systems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 err="1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Zengxiang</a:t>
                      </a: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 Lei, Satish V. </a:t>
                      </a:r>
                      <a:r>
                        <a:rPr lang="en-US" altLang="en-GB" sz="2400" u="none" strike="noStrike" cap="none" dirty="0" err="1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Ukkusuri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Transportation Research Part B (Elsevier, 2023)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Off-policy RL (TD3), scalable RL for large networks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Dynamic Pricing in High-Speed Railways Using Multi-Agent RL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E. A. Villarrubia-Mart</a:t>
                      </a:r>
                      <a:r>
                        <a:rPr lang="en-US" alt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í</a:t>
                      </a: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n, L. Rodriguez-Ben</a:t>
                      </a:r>
                      <a:r>
                        <a:rPr lang="en-US" alt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í</a:t>
                      </a: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tez, et al.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arXiv (2025)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Multi-Agent RL, Markov Game, Utility modeling for railway pricing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89935" y="751750"/>
          <a:ext cx="11184967" cy="5699790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2774896"/>
                <a:gridCol w="2803357"/>
                <a:gridCol w="2803357"/>
                <a:gridCol w="2803357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TITLE OF PAPER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endParaRPr lang="en-IN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400" b="1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Calibri" panose="020F0502020204030204"/>
                          <a:sym typeface="Arial" panose="020B0604020202020204"/>
                        </a:rPr>
                        <a:t>AUTHORS</a:t>
                      </a:r>
                      <a:endParaRPr lang="en-IN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</a:rPr>
                        <a:t>PUBLISHER</a:t>
                      </a:r>
                      <a:endParaRPr lang="en-IN" sz="2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TECHNOLOGY USED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  <a:p>
                      <a:endParaRPr lang="en-IN" dirty="0"/>
                    </a:p>
                  </a:txBody>
                  <a:tcPr/>
                </a:tc>
              </a:tr>
              <a:tr h="14927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Dynamic Pricing &amp; Ordering with Strategic Customers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Parisa Famil Alamdar, Abbas Seifi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GB" altLang="en-US" sz="1100" dirty="0"/>
                        <a:t>   </a:t>
                      </a:r>
                      <a:r>
                        <a:rPr lang="en-US" altLang="zh-CN" sz="2400" dirty="0">
                          <a:latin typeface="Arial Narrow" panose="020B0606020202030204" pitchFamily="34" charset="0"/>
                          <a:cs typeface="Arial Narrow" panose="020B0606020202030204" pitchFamily="34" charset="0"/>
                        </a:rPr>
                        <a:t>ScienceDirect (2024)</a:t>
                      </a:r>
                      <a:endParaRPr lang="en-US" altLang="zh-CN" sz="2400" dirty="0">
                        <a:latin typeface="Arial Narrow" panose="020B0606020202030204" pitchFamily="34" charset="0"/>
                        <a:cs typeface="Arial Narrow" panose="020B0606020202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Deep Q-learning, DNN demand modeling, dynamic pricing + ordering decisions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  <a:tr h="8505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Dynamic Pricing &amp; Inventory for Omni-channel Retail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Shiyu Liu, Jun Wang, Rui Wang, et al.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ScienceDirect (2023–24)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Deep RL (PPO), LSTM for high-dimensional POMDP modeling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  <a:tr h="8505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A Primal–Dual Learning Algorithm for Personalized Dynamic Pricing with an Inventory Constraint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Ningyuan Chen &amp; Guillermo Gallego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Mathematics of Operations Research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alt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(2021-2023)</a:t>
                      </a:r>
                      <a:endParaRPr lang="en-GB" alt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/>
                          <a:ea typeface="Arial Narrow" panose="020B0606020202030204"/>
                          <a:cs typeface="Arial Narrow" panose="020B0606020202030204"/>
                          <a:sym typeface="Arial Narrow" panose="020B0606020202030204"/>
                        </a:rPr>
                        <a:t>Primal–dual learning, personalized dynamic pricing, inventory constraints</a:t>
                      </a:r>
                      <a:endParaRPr lang="en-US" altLang="en-GB" sz="2400" u="none" strike="noStrike" cap="none" dirty="0">
                        <a:solidFill>
                          <a:schemeClr val="dk1"/>
                        </a:solidFill>
                        <a:latin typeface="Arial Narrow" panose="020B0606020202030204"/>
                        <a:ea typeface="Arial Narrow" panose="020B0606020202030204"/>
                        <a:cs typeface="Arial Narrow" panose="020B0606020202030204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Google Shape;127;p6"/>
          <p:cNvSpPr txBox="1"/>
          <p:nvPr/>
        </p:nvSpPr>
        <p:spPr>
          <a:xfrm>
            <a:off x="838200" y="557189"/>
            <a:ext cx="10515600" cy="111053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lvl1pPr>
          </a:lstStyle>
          <a:p>
            <a:pPr algn="l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/>
              </a:rPr>
              <a:t>EXISTING SYSTEM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  <a:sym typeface="Arial Narrow" panose="020B0606020202030204"/>
            </a:endParaRPr>
          </a:p>
        </p:txBody>
      </p:sp>
      <p:pic>
        <p:nvPicPr>
          <p:cNvPr id="4" name="Graphic 3" descr="User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650" y="1834939"/>
            <a:ext cx="1661347" cy="1491297"/>
          </a:xfrm>
          <a:prstGeom prst="rect">
            <a:avLst/>
          </a:prstGeom>
        </p:spPr>
      </p:pic>
      <p:pic>
        <p:nvPicPr>
          <p:cNvPr id="5" name="Graphic 4" descr="Inventory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2585" y="1834939"/>
            <a:ext cx="1455044" cy="1322384"/>
          </a:xfrm>
          <a:prstGeom prst="rect">
            <a:avLst/>
          </a:prstGeom>
        </p:spPr>
      </p:pic>
      <p:pic>
        <p:nvPicPr>
          <p:cNvPr id="6" name="Graphic 5" descr="Shopping cart with solid fil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5942" y="1834939"/>
            <a:ext cx="1178921" cy="1273827"/>
          </a:xfrm>
          <a:prstGeom prst="rect">
            <a:avLst/>
          </a:prstGeom>
        </p:spPr>
      </p:pic>
      <p:pic>
        <p:nvPicPr>
          <p:cNvPr id="7" name="Picture 10" descr="Database management Images - Free 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6682" y="4443662"/>
            <a:ext cx="1676943" cy="167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ricing Strategy to Optimize Sales &amp; Profi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2585" y="4652210"/>
            <a:ext cx="2056976" cy="146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Unveiling the Top 10 Discount Coupon Websites in India – ShopTwiz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63262" y="4788220"/>
            <a:ext cx="2743201" cy="98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lang="en-US" b="1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2" descr="Right arrow - Free arrows icon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664" y="2863427"/>
            <a:ext cx="796413" cy="2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Right arrow - Free arrows icon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862" y="2814870"/>
            <a:ext cx="796413" cy="2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Right arrow - Free arrows icon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9247196" y="4007274"/>
            <a:ext cx="796413" cy="2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Right arrow - Free arrows icon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596622" y="5135185"/>
            <a:ext cx="796413" cy="2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Right arrow - Free arrows icon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629435" y="5135186"/>
            <a:ext cx="796413" cy="2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13684" y="3312270"/>
            <a:ext cx="1281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Product</a:t>
            </a:r>
            <a:endParaRPr lang="en-IN"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683969" y="3339560"/>
            <a:ext cx="1052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User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9329110" y="3193603"/>
            <a:ext cx="1178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Cart</a:t>
            </a:r>
            <a:endParaRPr lang="en-IN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055941" y="5954489"/>
            <a:ext cx="1178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Coupon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407107" y="6262266"/>
            <a:ext cx="1365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Payment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83969" y="6048573"/>
            <a:ext cx="1676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Database</a:t>
            </a:r>
            <a:endParaRPr lang="en-IN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lvl1pPr>
          </a:lstStyle>
          <a:p>
            <a:r>
              <a:rPr lang="en-US" dirty="0">
                <a:sym typeface="Arial Narrow" panose="020B0606020202030204"/>
              </a:rPr>
              <a:t>PROBLEM IDENTIFICAITON</a:t>
            </a:r>
            <a:endParaRPr dirty="0">
              <a:sym typeface="Arial Narrow" panose="020B0606020202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6692" y="1595616"/>
            <a:ext cx="10787742" cy="431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latin typeface="Arial Narrow" panose="020B0606020202030204" pitchFamily="34" charset="0"/>
              </a:rPr>
              <a:t>1</a:t>
            </a:r>
            <a:r>
              <a:rPr lang="en-US" sz="2800" dirty="0">
                <a:latin typeface="Arial Narrow" panose="020B0606020202030204" pitchFamily="34" charset="0"/>
              </a:rPr>
              <a:t>.</a:t>
            </a:r>
            <a:r>
              <a:rPr lang="en-US" sz="3600" dirty="0"/>
              <a:t> </a:t>
            </a:r>
            <a:r>
              <a:rPr lang="en-US" sz="2400" dirty="0">
                <a:latin typeface="Arial Narrow" panose="020B0606020202030204" pitchFamily="34" charset="0"/>
              </a:rPr>
              <a:t>Most existing e-commerce platforms use general discount schemes for all users, ignoring loyalty level and purchase behavior, which leads to poor customer engagement.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</a:t>
            </a:r>
            <a:r>
              <a:rPr lang="en-US" sz="2400" dirty="0">
                <a:latin typeface="Arial Narrow" panose="020B0606020202030204" pitchFamily="34" charset="0"/>
              </a:rPr>
              <a:t>. Businesses often provide uniform or excessive discounts without analyzing customer loyalty, causing revenue loss and reduced profit margins.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</a:t>
            </a:r>
            <a:r>
              <a:rPr lang="en-US" sz="2400" dirty="0">
                <a:latin typeface="Arial Narrow" panose="020B0606020202030204" pitchFamily="34" charset="0"/>
              </a:rPr>
              <a:t>. Pricing and discount decisions are often made manually, which is slow, inconsistent, and prone to human error, especially when handling large customer datasets</a:t>
            </a:r>
            <a:r>
              <a:rPr lang="en-US" sz="3600" dirty="0"/>
              <a:t>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Traditional systems do not adjust offers or discounts in real time based on changing market demand, user behavior, or loyalty score updates</a:t>
            </a:r>
            <a:r>
              <a:rPr lang="en-US" sz="3600" dirty="0"/>
              <a:t>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8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1391285"/>
            <a:ext cx="10716260" cy="48285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8610" y="244475"/>
            <a:ext cx="1157414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GB" altLang="en-US" sz="4400" b="1">
                <a:latin typeface="+mj-lt"/>
                <a:cs typeface="+mj-lt"/>
              </a:rPr>
              <a:t>PROPOSED SYSTEM ARCHITECTURE</a:t>
            </a:r>
            <a:endParaRPr lang="en-GB" altLang="en-US" sz="4400" b="1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SOFTWARE AND HARDWARE REQUIREMENTS  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359627" y="1586700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HARDWARE</a:t>
            </a:r>
            <a:endParaRPr lang="en-US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4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1.</a:t>
            </a:r>
            <a:r>
              <a:rPr lang="en-US" altLang="en-GB" sz="24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Processor: Intel i3 or above</a:t>
            </a:r>
            <a:endParaRPr lang="en-US" sz="2400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           2.</a:t>
            </a:r>
            <a:r>
              <a:rPr lang="en-US" altLang="en-GB" sz="24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RAM: 4 GB (minimum)</a:t>
            </a:r>
            <a:endParaRPr sz="2400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           3.</a:t>
            </a:r>
            <a:r>
              <a:rPr lang="en-US" altLang="en-GB" sz="2400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Storage: 250 GB HDD</a:t>
            </a:r>
            <a:endParaRPr sz="2400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432883" y="1586700"/>
            <a:ext cx="5094689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112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SOFTWARE</a:t>
            </a:r>
            <a:endParaRPr lang="en-US" sz="11200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lang="en-US" sz="11200" b="1" i="0" dirty="0">
              <a:solidFill>
                <a:srgbClr val="000000"/>
              </a:solidFill>
              <a:effectLst/>
              <a:latin typeface="Arial Narrow" panose="020B0606020202030204"/>
              <a:ea typeface="Arial Narrow" panose="020B0606020202030204" pitchFamily="34" charset="0"/>
              <a:cs typeface="Arial Narrow" panose="020B0606020202030204" pitchFamily="34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1.Operating System: Windows10/11, Linux</a:t>
            </a:r>
            <a:endParaRPr lang="en-IN" sz="9600" dirty="0">
              <a:effectLst/>
              <a:latin typeface="Arial Narrow" panose="020B0606020202030204" pitchFamily="34" charset="0"/>
            </a:endParaRPr>
          </a:p>
          <a:p>
            <a:pPr marL="0" marR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  2.</a:t>
            </a:r>
            <a:r>
              <a:rPr lang="en-US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Programming Language: Python (for ml models)</a:t>
            </a:r>
            <a:endParaRPr lang="en-IN" sz="9600" dirty="0">
              <a:effectLst/>
              <a:latin typeface="Arial Narrow" panose="020B0606020202030204" pitchFamily="34" charset="0"/>
            </a:endParaRPr>
          </a:p>
          <a:p>
            <a:pPr marL="0" marR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  3.</a:t>
            </a:r>
            <a:r>
              <a:rPr lang="en-US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Database: MySQL</a:t>
            </a:r>
            <a:endParaRPr lang="en-IN" sz="9600" dirty="0">
              <a:effectLst/>
              <a:latin typeface="Arial Narrow" panose="020B0606020202030204" pitchFamily="34" charset="0"/>
            </a:endParaRPr>
          </a:p>
          <a:p>
            <a:pPr marL="0" marR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  4.Frontend:HTML,CSS,JavaScript.</a:t>
            </a:r>
            <a:endParaRPr lang="en-IN" sz="9600" dirty="0">
              <a:effectLst/>
              <a:latin typeface="Arial Narrow" panose="020B0606020202030204" pitchFamily="34" charset="0"/>
            </a:endParaRPr>
          </a:p>
          <a:p>
            <a:pPr marL="0" marR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  5.Backend:Python Flask</a:t>
            </a:r>
            <a:endParaRPr lang="en-IN" sz="9600" dirty="0">
              <a:effectLst/>
              <a:latin typeface="Arial Narrow" panose="020B0606020202030204" pitchFamily="34" charset="0"/>
            </a:endParaRPr>
          </a:p>
          <a:p>
            <a:pPr marL="0" marR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  6.</a:t>
            </a:r>
            <a:r>
              <a:rPr lang="en-US" sz="96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rPr>
              <a:t>IDE/Tool: VS Code</a:t>
            </a:r>
            <a:endParaRPr lang="en-IN" sz="9600" dirty="0">
              <a:effectLst/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MODULES </a:t>
            </a:r>
            <a:endParaRPr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US" sz="2800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User Management Module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r>
              <a:rPr lang="en-US" sz="2800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Product Management Module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</a:t>
            </a:r>
            <a:r>
              <a:rPr lang="en-US" sz="2800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altLang="en-US" sz="2800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 Negotiation Module</a:t>
            </a:r>
            <a:endParaRPr dirty="0">
              <a:latin typeface="Arial Narrow" panose="020B0606020202030204" pitchFamily="34" charset="0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</a:t>
            </a:r>
            <a:r>
              <a:rPr lang="en-US" altLang="en-GB" sz="2800" dirty="0">
                <a:latin typeface="Arial Narrow" panose="020B0606020202030204" pitchFamily="34" charset="0"/>
              </a:rPr>
              <a:t> </a:t>
            </a:r>
            <a:r>
              <a:rPr lang="en-IN" altLang="en-US" sz="2800" dirty="0">
                <a:latin typeface="Arial Narrow" panose="020B0606020202030204" pitchFamily="34" charset="0"/>
              </a:rPr>
              <a:t>Service center mapping Module</a:t>
            </a:r>
            <a:endParaRPr lang="en-IN" altLang="en-US" sz="2800" dirty="0">
              <a:latin typeface="Arial Narrow" panose="020B0606020202030204" pitchFamily="34" charset="0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IN" altLang="en-US" sz="2800" dirty="0">
                <a:latin typeface="Arial Narrow" panose="020B0606020202030204" pitchFamily="34" charset="0"/>
              </a:rPr>
              <a:t>5. </a:t>
            </a:r>
            <a:r>
              <a:rPr lang="en-US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 &amp; Checkout Module</a:t>
            </a:r>
            <a:endParaRPr lang="en-US" altLang="en-GB" sz="28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IMPLEMENTATION OF MODULE-1</a:t>
            </a:r>
            <a:endParaRPr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4" name="Picture 3" descr="A screenshot of a computer screen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277" y="1170039"/>
            <a:ext cx="4886633" cy="4011562"/>
          </a:xfrm>
          <a:prstGeom prst="rect">
            <a:avLst/>
          </a:prstGeom>
        </p:spPr>
      </p:pic>
      <p:pic>
        <p:nvPicPr>
          <p:cNvPr id="7" name="Picture 6" descr="A screenshot of a login form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70039"/>
            <a:ext cx="5483942" cy="4011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flipH="1">
            <a:off x="2011680" y="5370830"/>
            <a:ext cx="1734185" cy="308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/>
              <a:t>Registration page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924800" y="5371504"/>
            <a:ext cx="2143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Login page</a:t>
            </a:r>
            <a:endParaRPr lang="en-IN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IMPLEMENTATION OF MODULE-2</a:t>
            </a:r>
            <a:endParaRPr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pic>
        <p:nvPicPr>
          <p:cNvPr id="3" name="Picture 2" descr="A screenshot of a website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612" y="834277"/>
            <a:ext cx="8445911" cy="4455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32439" y="5403743"/>
            <a:ext cx="5329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 management page</a:t>
            </a:r>
            <a:endParaRPr lang="en-IN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430" y="179705"/>
            <a:ext cx="8981440" cy="904875"/>
          </a:xfrm>
        </p:spPr>
        <p:txBody>
          <a:bodyPr/>
          <a:p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IMPLEMENTATION OF MODULE-</a:t>
            </a:r>
            <a:r>
              <a:rPr lang="en-IN" alt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3</a:t>
            </a:r>
            <a:endParaRPr lang="en-IN" altLang="en-US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125" y="1825625"/>
            <a:ext cx="10734675" cy="4351655"/>
          </a:xfrm>
        </p:spPr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083945"/>
            <a:ext cx="10134600" cy="50882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064000" y="635635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GB" sz="1600">
                <a:latin typeface="Arial" panose="020B0604020202020204" pitchFamily="34" charset="0"/>
                <a:cs typeface="Arial" panose="020B0604020202020204" pitchFamily="34" charset="0"/>
              </a:rPr>
              <a:t>Auto negotiation</a:t>
            </a:r>
            <a:endParaRPr lang="en-IN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760" y="135255"/>
            <a:ext cx="9083040" cy="920750"/>
          </a:xfrm>
        </p:spPr>
        <p:txBody>
          <a:bodyPr/>
          <a:p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IMPLEMENTATION OF MODULE-</a:t>
            </a:r>
            <a:r>
              <a:rPr lang="en-IN" alt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4</a:t>
            </a:r>
            <a:endParaRPr lang="en-IN" altLang="en-US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019810"/>
            <a:ext cx="10516235" cy="51574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780280" y="635635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1600"/>
              <a:t>Service center mapping</a:t>
            </a:r>
            <a:endParaRPr lang="en-IN" altLang="en-GB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7429500" y="6048375"/>
            <a:ext cx="27432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chemeClr val="dk1"/>
                </a:solidFill>
              </a:rPr>
              <a:t>Checkout page</a:t>
            </a:r>
            <a:endParaRPr lang="en-IN" sz="1600"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IMPLEMENTATION OF MODULE-</a:t>
            </a:r>
            <a:r>
              <a:rPr lang="en-IN" altLang="en-US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5</a:t>
            </a:r>
            <a:endParaRPr lang="en-IN" altLang="en-US" b="1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pic>
        <p:nvPicPr>
          <p:cNvPr id="3" name="Picture 2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" y="680720"/>
            <a:ext cx="5949315" cy="5085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9909" y="6047461"/>
            <a:ext cx="3647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Cart management page</a:t>
            </a:r>
            <a:endParaRPr lang="en-IN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720" y="685800"/>
            <a:ext cx="5688965" cy="5081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CONCLUSION</a:t>
            </a:r>
            <a:endParaRPr b="1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US" altLang="en-GB" sz="2800" dirty="0">
                <a:latin typeface="Arial Narrow" panose="020B0606020202030204" pitchFamily="34" charset="0"/>
              </a:rPr>
              <a:t> The Dynamic Pricing &amp; Offer Optimization system provides a smart, AI-driven approach to overcome the limitations of traditional static or rule-based pricing. By integrating real-time data, customer behavior, and predictive models, the system is able to generate personalized and adaptive pricing strategies. </a:t>
            </a: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r>
              <a:rPr lang="en-US" altLang="en-GB" sz="2800" dirty="0">
                <a:latin typeface="Arial Narrow" panose="020B0606020202030204" pitchFamily="34" charset="0"/>
                <a:sym typeface="+mn-ea"/>
              </a:rPr>
              <a:t> This ensures that businesses can maximize revenue, maintain competitive advantage, and enhance customer satisfaction.</a:t>
            </a:r>
            <a:endParaRPr lang="en-US" altLang="en-GB" sz="2800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 panose="020B0606020202030204"/>
              </a:rPr>
              <a:t>FUTURE ENHANCEMENTS </a:t>
            </a:r>
            <a:endParaRPr b="1" dirty="0">
              <a:latin typeface="Arial Narrow" panose="020B0606020202030204"/>
              <a:sym typeface="Arial Narrow" panose="020B0606020202030204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lang="en-US" dirty="0"/>
              <a:t> </a:t>
            </a:r>
            <a:r>
              <a:rPr lang="en-US" dirty="0">
                <a:latin typeface="Arial Narrow" panose="020B0606020202030204" pitchFamily="34" charset="0"/>
              </a:rPr>
              <a:t>Provide eco-friendly discounts e.g., lower prices for customers choosing sustainable or low-carbon-footprint products ,combining pricing with environmental awareness.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dirty="0"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lang="en-US" dirty="0">
                <a:latin typeface="Arial Narrow" panose="020B0606020202030204" pitchFamily="34" charset="0"/>
              </a:rPr>
              <a:t> ML model predicts which customers are likely to leave or stop purchasing soon and automatically sends targeted offers to retain them.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5150</Words>
  <Application>WPS Presentation</Application>
  <PresentationFormat>Widescreen</PresentationFormat>
  <Paragraphs>249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Arial Narrow</vt:lpstr>
      <vt:lpstr>Times New Roman</vt:lpstr>
      <vt:lpstr>Arial Narrow</vt:lpstr>
      <vt:lpstr>Microsoft YaHei</vt:lpstr>
      <vt:lpstr>Arial Unicode MS</vt:lpstr>
      <vt:lpstr>Office Theme</vt:lpstr>
      <vt:lpstr>PowerPoint 演示文稿</vt:lpstr>
      <vt:lpstr>PowerPoint 演示文稿</vt:lpstr>
      <vt:lpstr>OBJECTIVE OF THE PROJECT</vt:lpstr>
      <vt:lpstr>INTRODUCTION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SOFTWARE AND HARDWARE REQUIREMENTS 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Rajeswari M</cp:lastModifiedBy>
  <cp:revision>14</cp:revision>
  <dcterms:created xsi:type="dcterms:W3CDTF">2025-11-25T03:36:00Z</dcterms:created>
  <dcterms:modified xsi:type="dcterms:W3CDTF">2025-11-25T04:52:55Z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7423128266934CA5BA9EA2146E45BD84_12</vt:lpwstr>
  </property>
  <property fmtid="{D5CDD505-2E9C-101B-9397-08002B2CF9AE}" pid="3" name="KSOProductBuildVer">
    <vt:lpwstr>2057-12.2.0.23131</vt:lpwstr>
  </property>
</Properties>
</file>